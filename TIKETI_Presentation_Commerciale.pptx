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 rot="900000">
            <a:off x="8229600" y="-1371600"/>
            <a:ext cx="4572000" cy="4572000"/>
          </a:xfrm>
          <a:prstGeom prst="ellipse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114800"/>
            <a:ext cx="4114800" cy="4114800"/>
          </a:xfrm>
          <a:prstGeom prst="ellipse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640"/>
              </a:lnSpc>
              <a:spcBef>
                <a:spcPts val="0"/>
              </a:spcBef>
              <a:spcAft>
                <a:spcPts val="0"/>
              </a:spcAft>
              <a:defRPr sz="7200" b="1">
                <a:solidFill>
                  <a:srgbClr val="FFFFFF"/>
                </a:solidFill>
                <a:latin typeface="Calibri"/>
              </a:defRPr>
            </a:pPr>
            <a:r>
              <a:t>TIKÊTI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CBD5E1"/>
                </a:solidFill>
                <a:latin typeface="Calibri"/>
              </a:defRPr>
            </a:pPr>
            <a:r>
              <a:t>La Plateforme Intelligente de Billetterie</a:t>
            </a:r>
            <a:br/>
            <a:r>
              <a:t>pour le Transport Interurbain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657600"/>
            <a:ext cx="137160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4748B"/>
                </a:solidFill>
                <a:latin typeface="Calibri"/>
              </a:defRPr>
            </a:pPr>
            <a:r>
              <a:t>De la vente au guichet jusqu'au contrôle à l'embarquement,</a:t>
            </a:r>
            <a:br/>
            <a:r>
              <a:t>pilotez chaque siège en temps réel.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937760"/>
            <a:ext cx="2670048" cy="365760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919472"/>
            <a:ext cx="2670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4F46E5"/>
                </a:solidFill>
                <a:latin typeface="Calibri"/>
              </a:defRPr>
            </a:pPr>
            <a:r>
              <a:t>Billetterie &amp; Guichet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38728" y="4937760"/>
            <a:ext cx="804672" cy="365760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38728" y="4919472"/>
            <a:ext cx="804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4F46E5"/>
                </a:solidFill>
                <a:latin typeface="Calibri"/>
              </a:defRPr>
            </a:pPr>
            <a:r>
              <a:t>TIDS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4937760"/>
            <a:ext cx="2011679" cy="365760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4919472"/>
            <a:ext cx="2011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4F46E5"/>
                </a:solidFill>
                <a:latin typeface="Calibri"/>
              </a:defRPr>
            </a:pPr>
            <a:r>
              <a:t>Correspondances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29399" y="4937760"/>
            <a:ext cx="2011679" cy="365760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399" y="4919472"/>
            <a:ext cx="2011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4F46E5"/>
                </a:solidFill>
                <a:latin typeface="Calibri"/>
              </a:defRPr>
            </a:pPr>
            <a:r>
              <a:t>Contrôle Mobile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38" y="4937760"/>
            <a:ext cx="1682495" cy="365760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38" y="4919472"/>
            <a:ext cx="16824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4F46E5"/>
                </a:solidFill>
                <a:latin typeface="Calibri"/>
              </a:defRPr>
            </a:pPr>
            <a:r>
              <a:t>Fidélisation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035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4155"/>
                </a:solidFill>
                <a:latin typeface="Calibri"/>
              </a:defRPr>
            </a:pPr>
            <a:r>
              <a:t>Présentation Commerciale &amp; Marketing —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gradFill rotWithShape="1">
            <a:gsLst>
              <a:gs pos="0">
                <a:srgbClr val="F43F5E"/>
              </a:gs>
              <a:gs pos="100000">
                <a:srgbClr val="F9731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43F5E"/>
                </a:solidFill>
                <a:latin typeface="Calibri"/>
              </a:defRPr>
            </a:pPr>
            <a:r>
              <a:t>LE CONSTAT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Un secteur qui perd des millions chaque jour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566160" cy="1737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57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Billetterie manuelle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4688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Carnets papier, fraude, doublons, pertes financières non traçables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566160" cy="1737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011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2057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Surréservation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4688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Conflits de sièges, altercations, retards, image de marque dégradée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828800"/>
            <a:ext cx="3566160" cy="1737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2011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2057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Zéro visibilité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24688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Décisions de gestion à l'aveugle, pas de données en temps réel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840480"/>
            <a:ext cx="3566160" cy="1737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0233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69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Correspondances impossibles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4805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Passagers perdus entre deux lignes, aucun suivi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840480"/>
            <a:ext cx="3566160" cy="1737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40233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4069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Pas de contrôle embarquement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44805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Fraude généralisée, passagers sans billet valide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840480"/>
            <a:ext cx="3566160" cy="1737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8200" y="40233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4069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Aucune fidélisation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44805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Clients volatils, zéro rétention, revenus imprévisibles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943600"/>
            <a:ext cx="11064240" cy="594360"/>
          </a:xfrm>
          <a:prstGeom prst="roundRect">
            <a:avLst/>
          </a:prstGeom>
          <a:solidFill>
            <a:srgbClr val="4C1616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9893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DA4AF"/>
                </a:solidFill>
                <a:latin typeface="Calibri"/>
              </a:defRPr>
            </a:pPr>
            <a:r>
              <a:t>⚠️  Une compagnie de 20 véhicules peut perdre 15 à 25% de son CA à cause de la fraude et du manque de traçabilité.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4F46E5"/>
                </a:solidFill>
                <a:latin typeface="Calibri"/>
              </a:defRPr>
            </a:pPr>
            <a:r>
              <a:t>LA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TIKÊTI — Tout-en-un pour votre transport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De la vente au guichet jusqu'au contrôle à l'embarquement, en passant par les correspondances et la fidélisation.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2651760" cy="2377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265176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5603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546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4F46E5"/>
                </a:solidFill>
                <a:latin typeface="Calibri"/>
              </a:defRPr>
            </a:pPr>
            <a:r>
              <a:t>VENTE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Billetterie intelligente</a:t>
            </a:r>
            <a:br/>
            <a:r>
              <a:t>avec plan de siège interactif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2286000"/>
            <a:ext cx="2651760" cy="2377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2286000"/>
            <a:ext cx="265176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25603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31546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6B6D4"/>
                </a:solidFill>
                <a:latin typeface="Calibri"/>
              </a:defRPr>
            </a:pPr>
            <a:r>
              <a:t>PLACEMENT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6576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Suggestion automatique</a:t>
            </a:r>
            <a:br/>
            <a:r>
              <a:t>anti-blocage bidirectionnel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286000"/>
            <a:ext cx="2651760" cy="2377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2286000"/>
            <a:ext cx="26517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25603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1546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0B981"/>
                </a:solidFill>
                <a:latin typeface="Calibri"/>
              </a:defRPr>
            </a:pPr>
            <a:r>
              <a:t>CONTRÔLE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6576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Scan QR · Anti-fraude</a:t>
            </a:r>
            <a:br/>
            <a:r>
              <a:t>Manifeste numérique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9720" y="2286000"/>
            <a:ext cx="2651760" cy="2377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9720" y="2286000"/>
            <a:ext cx="265176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9720" y="25603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31546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8B5CF6"/>
                </a:solidFill>
                <a:latin typeface="Calibri"/>
              </a:defRPr>
            </a:pPr>
            <a:r>
              <a:t>PILOTAGE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36576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Dashboard temps réel</a:t>
            </a:r>
            <a:br/>
            <a:r>
              <a:t>Reporting financier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029200"/>
            <a:ext cx="2651760" cy="1280160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2120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0B981"/>
                </a:solidFill>
                <a:latin typeface="Calibri"/>
              </a:defRPr>
            </a:pPr>
            <a:r>
              <a:t>0% fraude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7150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QR Code + Scan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29000" y="5029200"/>
            <a:ext cx="2651760" cy="1280160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29000" y="52120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0B981"/>
                </a:solidFill>
                <a:latin typeface="Calibri"/>
              </a:defRPr>
            </a:pPr>
            <a:r>
              <a:t>Embarquement -30%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57150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Placement intelligent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5029200"/>
            <a:ext cx="2651760" cy="1280160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52120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0B981"/>
                </a:solidFill>
                <a:latin typeface="Calibri"/>
              </a:defRPr>
            </a:pPr>
            <a:r>
              <a:t>Visibilité totale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57150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Temps réel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89720" y="5029200"/>
            <a:ext cx="2651760" cy="1280160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89720" y="52120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0B981"/>
                </a:solidFill>
                <a:latin typeface="Calibri"/>
              </a:defRPr>
            </a:pPr>
            <a:r>
              <a:t>+2.5x voyages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9720" y="57150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Fidélisation OKOHI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4F46E5"/>
                </a:solidFill>
                <a:latin typeface="Calibri"/>
              </a:defRPr>
            </a:pPr>
            <a:r>
              <a:t>FONCTIONNALITÉ CLÉ #1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Billetterie Intelligente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Plan de siège interactif avec suggestion</a:t>
            </a:r>
            <a:br/>
            <a:r>
              <a:t>automatique du meilleur placement</a:t>
            </a:r>
          </a:p>
        </p:txBody>
      </p:sp>
      <p:pic>
        <p:nvPicPr>
          <p:cNvPr id="6" name="Picture 5" descr="seat_map_dashboard_17850655516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74320"/>
            <a:ext cx="5669280" cy="56692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2194560"/>
            <a:ext cx="365760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762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194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Zonage par destination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194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Proches → portes · Loin → fond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97480"/>
            <a:ext cx="365760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67919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697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Proximité aux portes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697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Distance Manhattan vers porte la plus proche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00400"/>
            <a:ext cx="365760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1821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200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Anti-blocage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200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Évite les blocages fenêtre/couloir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703320"/>
            <a:ext cx="365760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68503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703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Regroupement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703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Même destination = sièges voisins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206240"/>
            <a:ext cx="365760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1879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206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Groupes / Familles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206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Sièges adjacents automatiques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709160"/>
            <a:ext cx="365760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6908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4709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Confort intra-zone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4709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Couloir court · Fenêtre long trajet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5212080"/>
            <a:ext cx="365760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19379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5212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Remplissage adaptatif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5212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Bascule quand zone cible &gt; 80%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989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4748B"/>
                </a:solidFill>
                <a:latin typeface="Calibri"/>
              </a:defRPr>
            </a:pPr>
            <a:r>
              <a:t>CODAGE COULEUR DES SIÈGES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6355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🟢  Vert — Arrêt le plus proche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6629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🟡  Orange — Arrêt intermédiaire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6903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🔴  Rouge — Terminus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7178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⬜  Gris — Disponible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gradFill rotWithShape="1">
            <a:gsLst>
              <a:gs pos="0">
                <a:srgbClr val="F59E0B"/>
              </a:gs>
              <a:gs pos="100000">
                <a:srgbClr val="F9731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59E0B"/>
                </a:solidFill>
                <a:latin typeface="Calibri"/>
              </a:defRPr>
            </a:pPr>
            <a:r>
              <a:t>FONCTIONNALITÉ CLÉ #2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TIDS — Travel Information Display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59E0B"/>
                </a:solidFill>
                <a:latin typeface="Calibri"/>
              </a:defRPr>
            </a:pPr>
            <a:r>
              <a:t>L'expérience aéroport dans vos gares routières</a:t>
            </a:r>
          </a:p>
        </p:txBody>
      </p:sp>
      <p:pic>
        <p:nvPicPr>
          <p:cNvPr id="6" name="Picture 5" descr="tids_display_board_17850655649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74320"/>
            <a:ext cx="5669280" cy="5669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2103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103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Départs en temps réel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3774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Heure, destination, véhicule, places, statut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WebSockets Live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0175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Mise à jour automatique toutes les 25s + push instantané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383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383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Mode plein écran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6576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Parfait pour grands écrans TV en gare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0233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023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Design CRT premium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2976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Effets scanline et glow ambre, esthétique professionnelle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663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63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Filtrage par gare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9377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Chaque gare affiche uniquement ses départs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303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⏱️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303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Horloge intégrée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5778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Heure · Minute · Seconde + Date complète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126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4748B"/>
                </a:solidFill>
                <a:latin typeface="Calibri"/>
              </a:defRPr>
            </a:pPr>
            <a:r>
              <a:t>STATUTS DYNAMIQUES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6492240"/>
            <a:ext cx="146304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64922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0B981"/>
                </a:solidFill>
                <a:latin typeface="Calibri"/>
              </a:defRPr>
            </a:pPr>
            <a:r>
              <a:t>🟢 À L'HEURE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331720" y="6492240"/>
            <a:ext cx="173736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31720" y="64922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97316"/>
                </a:solidFill>
                <a:latin typeface="Calibri"/>
              </a:defRPr>
            </a:pPr>
            <a:r>
              <a:t>🟠 EMBARQUEMENT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06240" y="6492240"/>
            <a:ext cx="128016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59E0B"/>
                </a:solidFill>
                <a:latin typeface="Calibri"/>
              </a:defRPr>
            </a:pPr>
            <a:r>
              <a:t>🟡 RETARDÉ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23560" y="6492240"/>
            <a:ext cx="128016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2356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43F5E"/>
                </a:solidFill>
                <a:latin typeface="Calibri"/>
              </a:defRPr>
            </a:pPr>
            <a:r>
              <a:t>🔴 COMPLET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040880" y="6492240"/>
            <a:ext cx="109728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4748B"/>
                </a:solidFill>
                <a:latin typeface="Calibri"/>
              </a:defRPr>
            </a:pPr>
            <a:r>
              <a:t>⚪ PARTI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gradFill rotWithShape="1">
            <a:gsLst>
              <a:gs pos="0">
                <a:srgbClr val="8B5CF6"/>
              </a:gs>
              <a:gs pos="100000">
                <a:srgbClr val="4F46E5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8B5CF6"/>
                </a:solidFill>
                <a:latin typeface="Calibri"/>
              </a:defRPr>
            </a:pPr>
            <a:r>
              <a:t>FONCTIONNALITÉ CLÉ #3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Correspondances — Le Voyage Sans Rupture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8B5CF6"/>
                </a:solidFill>
                <a:latin typeface="Calibri"/>
              </a:defRPr>
            </a:pPr>
            <a:r>
              <a:t>Un seul billet pour un trajet multi-véhicules</a:t>
            </a:r>
          </a:p>
        </p:txBody>
      </p:sp>
      <p:pic>
        <p:nvPicPr>
          <p:cNvPr id="6" name="Picture 5" descr="correspondance_workflow_17850655943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74320"/>
            <a:ext cx="5486400" cy="54864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2103120"/>
            <a:ext cx="457200" cy="4572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103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Vente du trajet complet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468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Le vendeur sélectionne la destination finale</a:t>
            </a:r>
            <a:br/>
            <a:r>
              <a:t>et la gare de transfert. Tarif combiné calculé.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0"/>
            <a:ext cx="457200" cy="4572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246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200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Transit confirmé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5661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À l'arrivée, l'agent de transit marque</a:t>
            </a:r>
            <a:br/>
            <a:r>
              <a:t>le passager « Présent » dans le bassin.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97680"/>
            <a:ext cx="45720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343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297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Affectation 2ᵉ véhicule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6634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Siège automatiquement attribué sur</a:t>
            </a:r>
            <a:br/>
            <a:r>
              <a:t>le prochain départ compatible.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577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✅  Bassin de transit centralisé par gare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897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✅  Affectation intelligente automatique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217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✅  Détection de conflits en temps réel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5379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✅  Vérification par segment (pas par voyage)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8580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✅  Zéro double occupation garantie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gradFill rotWithShape="1">
            <a:gsLst>
              <a:gs pos="0">
                <a:srgbClr val="06B6D4"/>
              </a:gs>
              <a:gs pos="100000">
                <a:srgbClr val="10B981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6B6D4"/>
                </a:solidFill>
                <a:latin typeface="Calibri"/>
              </a:defRPr>
            </a:pPr>
            <a:r>
              <a:t>FONCTIONNALITÉ CLÉ #4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Tiketi Control — Le Terrain Sécurisé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6B6D4"/>
                </a:solidFill>
                <a:latin typeface="Calibri"/>
              </a:defRPr>
            </a:pPr>
            <a:r>
              <a:t>L'arme anti-fraude dans la poche de vos contrôleurs</a:t>
            </a:r>
          </a:p>
        </p:txBody>
      </p:sp>
      <p:pic>
        <p:nvPicPr>
          <p:cNvPr id="6" name="Picture 5" descr="tiketi_control_app_17850655755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457200"/>
            <a:ext cx="5943600" cy="5943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2103120"/>
            <a:ext cx="640080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194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Scan QR instantané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514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Valide le billet en &lt; 2 secondes</a:t>
            </a:r>
            <a:br/>
            <a:r>
              <a:t>Détecte les doublons automatiquement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63240"/>
            <a:ext cx="640080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154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Manifeste numérique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474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Liste complète des passagers avec</a:t>
            </a:r>
            <a:br/>
            <a:r>
              <a:t>siège, destination et statut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23360"/>
            <a:ext cx="640080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160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114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Validation embarquement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434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Confirme chaque montée</a:t>
            </a:r>
            <a:br/>
            <a:r>
              <a:t>dans le bon véhicule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983480"/>
            <a:ext cx="640080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120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5074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Mode hors ligne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394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Cache local fiable</a:t>
            </a:r>
            <a:br/>
            <a:r>
              <a:t>Synchronisation à la reconnexion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943600"/>
            <a:ext cx="640080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080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6035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Appareils autorisés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6355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Whitelist par l'administrateur</a:t>
            </a:r>
            <a:br/>
            <a:r>
              <a:t>Accès journalisé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gradFill rotWithShape="1">
            <a:gsLst>
              <a:gs pos="0">
                <a:srgbClr val="F59E0B"/>
              </a:gs>
              <a:gs pos="100000">
                <a:srgbClr val="D9770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59E0B"/>
                </a:solidFill>
                <a:latin typeface="Calibri"/>
              </a:defRPr>
            </a:pPr>
            <a:r>
              <a:t>FONCTIONNALITÉ CLÉ #5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Fidélisation OKOHI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59E0B"/>
                </a:solidFill>
                <a:latin typeface="Calibri"/>
              </a:defRPr>
            </a:pPr>
            <a:r>
              <a:t>Transformez vos passagers occasionnels en clients fidèles</a:t>
            </a:r>
          </a:p>
        </p:txBody>
      </p:sp>
      <p:pic>
        <p:nvPicPr>
          <p:cNvPr id="6" name="Picture 5" descr="okohi_loyalty_card_17850656064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457200"/>
            <a:ext cx="5943600" cy="5943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2103120"/>
            <a:ext cx="576072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194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Connexion en 1 clic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514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Code 4 chiffres depuis OKOHI</a:t>
            </a:r>
            <a:br/>
            <a:r>
              <a:t>Activation instantanée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17520"/>
            <a:ext cx="576072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54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108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Identification client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4290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Scan du QR OKOHI du passager</a:t>
            </a:r>
            <a:br/>
            <a:r>
              <a:t>Pré-remplissage automatique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31920"/>
            <a:ext cx="576072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069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023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Récompenses en guichet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343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Billets gratuits, réductions</a:t>
            </a:r>
            <a:br/>
            <a:r>
              <a:t>appliqués directement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846320"/>
            <a:ext cx="576072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983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937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Historique voyages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257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Trajets récents, points cumulés</a:t>
            </a:r>
            <a:br/>
            <a:r>
              <a:t>Statut fidélité visible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760720"/>
            <a:ext cx="576072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897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852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Paiement mixte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61722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Récompense OKOHI + complément</a:t>
            </a:r>
            <a:br/>
            <a:r>
              <a:t>Tracé dans le ticket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8B5C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4F46E5"/>
                </a:solidFill>
                <a:latin typeface="Calibri"/>
              </a:defRPr>
            </a:pPr>
            <a:r>
              <a:t>PILOTAGE STRATÉGIQUE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Dashboard &amp; Reporting Financier</a:t>
            </a:r>
          </a:p>
        </p:txBody>
      </p:sp>
      <p:pic>
        <p:nvPicPr>
          <p:cNvPr id="5" name="Picture 4" descr="admin_dashboard_17850656303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"/>
            <a:ext cx="5943600" cy="59436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1645920"/>
            <a:ext cx="484632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737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Administrateur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057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CA total · Tickets · Remplissage</a:t>
            </a:r>
            <a:br/>
            <a:r>
              <a:t>Performance par ligne · Tendances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60320"/>
            <a:ext cx="484632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697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👁️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51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Superviseur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71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Voyages du jour · Statuts temps réel</a:t>
            </a:r>
            <a:br/>
            <a:r>
              <a:t>Passagers embarqués · Anomalies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474720"/>
            <a:ext cx="484632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611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566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Vendeur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886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Ventes du jour · Tickets émis</a:t>
            </a:r>
            <a:br/>
            <a:r>
              <a:t>Caisse courante · Dernier ticket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389120"/>
            <a:ext cx="484632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526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480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Exécutif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800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Vue consolidée · Rapports financiers</a:t>
            </a:r>
            <a:br/>
            <a:r>
              <a:t>Comparaisons inter-périodes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303520"/>
            <a:ext cx="484632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440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394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Comptable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715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Fermeture de caisse · Rapprochement</a:t>
            </a:r>
            <a:br/>
            <a:r>
              <a:t>par vendeur · Export CSV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gradFill rotWithShape="1">
            <a:gsLst>
              <a:gs pos="0">
                <a:srgbClr val="06B6D4"/>
              </a:gs>
              <a:gs pos="100000">
                <a:srgbClr val="4F46E5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6B6D4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SaaS Multi-Tenant — Sécurité &amp; Performance</a:t>
            </a:r>
          </a:p>
        </p:txBody>
      </p:sp>
      <p:pic>
        <p:nvPicPr>
          <p:cNvPr id="5" name="Picture 4" descr="multi_tenant_arch_17850656398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74320"/>
            <a:ext cx="5943600" cy="5943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645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6B6D4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6459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Laravel 11 + PHP 8.4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874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API REST, logique métier, algorithme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6B6D4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194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Vue.js 3 + Inertia.js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423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Interface réactive, plans SVG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43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6B6D4"/>
                </a:solidFill>
                <a:latin typeface="Calibri"/>
              </a:defRPr>
            </a:pPr>
            <a:r>
              <a:t>Base de données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7432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MySQL 8 (par tenant)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971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Isolation complète par compagnie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291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6B6D4"/>
                </a:solidFill>
                <a:latin typeface="Calibri"/>
              </a:defRPr>
            </a:pPr>
            <a:r>
              <a:t>Cache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32918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Redis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3520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Sessions, verrouillage concurrentiel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840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6B6D4"/>
                </a:solidFill>
                <a:latin typeface="Calibri"/>
              </a:defRPr>
            </a:pPr>
            <a:r>
              <a:t>Temps réel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38404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WebSockets (Reverb)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4069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MAJ instantanée plans &amp; TIDS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389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6B6D4"/>
                </a:solidFill>
                <a:latin typeface="Calibri"/>
              </a:defRPr>
            </a:pPr>
            <a:r>
              <a:t>Tenancy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4389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stancl/tenancy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4617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Routage par domaine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212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4748B"/>
                </a:solidFill>
                <a:latin typeface="Calibri"/>
              </a:defRPr>
            </a:pPr>
            <a:r>
              <a:t>AVANTAGES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532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🔒  Isolation totale — Chaque compagnie a sa propre DB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852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🌐  Domaines personnalisés — abc-transport.tiketi.ci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172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⚡  Performance — Réponse API &lt; 200ms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492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👥  50 utilisateurs simultanés sans conflit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8122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🔄  Temps réel — WebSockets entre toutes les gares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gradFill rotWithShape="1">
            <a:gsLst>
              <a:gs pos="0">
                <a:srgbClr val="10B981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0B981"/>
                </a:solidFill>
                <a:latin typeface="Calibri"/>
              </a:defRPr>
            </a:pPr>
            <a:r>
              <a:t>AVANTAGE CONCURRENTIEL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Pourquoi TIKÊTI 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1064240" cy="502920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0195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Fonctionnalité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9019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TIKÊTI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19019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Solutions Manuelles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90195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Autres Logiciels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77440"/>
            <a:ext cx="11064240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4231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Plan de siège interactif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423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0B981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423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43F5E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2423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59E0B"/>
                </a:solidFill>
                <a:latin typeface="Calibri"/>
              </a:defRPr>
            </a:pPr>
            <a:r>
              <a:t>⚠️ Basique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788920"/>
            <a:ext cx="11064240" cy="411480"/>
          </a:xfrm>
          <a:prstGeom prst="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8346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Suggestion intelligente (7 critères)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834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0B981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834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43F5E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28346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59E0B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200400"/>
            <a:ext cx="11064240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246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TIDS (écran de départs)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3246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0B981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3246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43F5E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32461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59E0B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611880"/>
            <a:ext cx="11064240" cy="411480"/>
          </a:xfrm>
          <a:prstGeom prst="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657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Correspondances multi-véhicules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0B981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43F5E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36576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59E0B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023360"/>
            <a:ext cx="11064240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0690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Contrôle QR + hors ligne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4069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0B981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4069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43F5E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4069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59E0B"/>
                </a:solidFill>
                <a:latin typeface="Calibri"/>
              </a:defRPr>
            </a:pPr>
            <a:r>
              <a:t>⚠️ En ligne seul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434840"/>
            <a:ext cx="11064240" cy="411480"/>
          </a:xfrm>
          <a:prstGeom prst="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4805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Fidélisation OKOHI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20" y="4480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0B981"/>
                </a:solidFill>
                <a:latin typeface="Calibri"/>
              </a:defRPr>
            </a:pPr>
            <a:r>
              <a:t>✅ Natif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0" y="4480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43F5E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44805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59E0B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4846320"/>
            <a:ext cx="11064240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48920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Multi-tenant SaaS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46320" y="4892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0B981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3760" y="4892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43F5E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0" y="48920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59E0B"/>
                </a:solidFill>
                <a:latin typeface="Calibri"/>
              </a:defRPr>
            </a:pPr>
            <a:r>
              <a:t>⚠️ Limité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5257800"/>
            <a:ext cx="11064240" cy="411480"/>
          </a:xfrm>
          <a:prstGeom prst="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53035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Anti-blocage bidirectionnel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46320" y="5303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0B981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23760" y="5303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43F5E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1200" y="53035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59E0B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5669280"/>
            <a:ext cx="11064240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" y="57150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WebSockets temps réel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46320" y="5715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0B981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23760" y="5715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43F5E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0" y="57150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59E0B"/>
                </a:solidFill>
                <a:latin typeface="Calibri"/>
              </a:defRPr>
            </a:pPr>
            <a:r>
              <a:t>⚠️ Polling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6080760"/>
            <a:ext cx="11064240" cy="411480"/>
          </a:xfrm>
          <a:prstGeom prst="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" y="61264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Vente par segment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46320" y="6126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0B981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23760" y="6126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43F5E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01200" y="6126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59E0B"/>
                </a:solidFill>
                <a:latin typeface="Calibri"/>
              </a:defRPr>
            </a:pPr>
            <a:r>
              <a:t>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-1828800"/>
            <a:ext cx="6400800" cy="6400800"/>
          </a:xfrm>
          <a:prstGeom prst="ellipse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680"/>
              </a:lnSpc>
              <a:spcBef>
                <a:spcPts val="0"/>
              </a:spcBef>
              <a:spcAft>
                <a:spcPts val="0"/>
              </a:spcAft>
              <a:defRPr sz="6400" b="1">
                <a:solidFill>
                  <a:srgbClr val="FFFFFF"/>
                </a:solidFill>
                <a:latin typeface="Calibri"/>
              </a:defRPr>
            </a:pPr>
            <a:r>
              <a:t>TIKÊTI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0" y="2468880"/>
            <a:ext cx="155448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CBD5E1"/>
                </a:solidFill>
                <a:latin typeface="Calibri"/>
              </a:defRPr>
            </a:pPr>
            <a:r>
              <a:t>Prêt à transformer votre compagnie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3840480"/>
            <a:ext cx="3931920" cy="73152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393192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Demandez une Démonstration Gratuite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937760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4748B"/>
                </a:solidFill>
                <a:latin typeface="Calibri"/>
              </a:defRPr>
            </a:pPr>
            <a:r>
              <a:t>📧  contact@tiketi.ci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303520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4748B"/>
                </a:solidFill>
                <a:latin typeface="Calibri"/>
              </a:defRPr>
            </a:pPr>
            <a:r>
              <a:t>📱  +225 XX XX XX XX XX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669280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4748B"/>
                </a:solidFill>
                <a:latin typeface="Calibri"/>
              </a:defRPr>
            </a:pPr>
            <a:r>
              <a:t>🌐  www.tiketi.ci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621792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4155"/>
                </a:solidFill>
                <a:latin typeface="Calibri"/>
              </a:defRPr>
            </a:pPr>
            <a:r>
              <a:t>© 2026 TIKÊTI — Tous droits réservés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